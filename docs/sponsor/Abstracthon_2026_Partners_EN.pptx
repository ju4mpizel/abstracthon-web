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" id="{e184a726-932f-755d-59ec-aa1f8da7738d}">
          <p14:sldIdLst>
            <p14:sldId id="256"/>
          </p14:sldIdLst>
        </p14:section>
        <p14:section name="Event" id="{7fb540e0-b05d-a205-704c-3f6e97156e08}">
          <p14:sldIdLst>
            <p14:sldId id="257"/>
            <p14:sldId id="258"/>
          </p14:sldIdLst>
        </p14:section>
        <p14:section name="Plans" id="{17c35cb3-c47a-9840-59c6-64a7ead12073}">
          <p14:sldIdLst>
            <p14:sldId id="259"/>
          </p14:sldIdLst>
        </p14:section>
        <p14:section name="Close" id="{77b41cf2-d111-1471-f2e6-1fd4a838cb31}">
          <p14:sldIdLst>
            <p14:sldId id="26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International deck, prices in USD. Do not quote headcount or Cochabamba. Add a named phone on the cover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International deck, prices in USD. Do not quote headcount or Cochabamba. Add a named phone on the cover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International deck, prices in USD. Do not quote headcount or Cochabamba. Add a named phone on the cover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International deck, prices in USD. Do not quote headcount or Cochabamba. Add a named phone on the cover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International deck, prices in USD. Do not quote headcount or Cochabamba. Add a named phone on the cover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37744"/>
            <a:ext cx="11155680" cy="585216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</a:t>
            </a:r>
            <a:endParaRPr lang="en-US" sz="3600" dirty="0"/>
          </a:p>
        </p:txBody>
      </p:sp>
      <p:sp>
        <p:nvSpPr>
          <p:cNvPr id="3" name="Text 0"/>
          <p:cNvSpPr txBox="1"/>
          <p:nvPr/>
        </p:nvSpPr>
        <p:spPr>
          <a:xfrm>
            <a:off x="502920" y="6510528"/>
            <a:ext cx="9509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</a:rPr>
              <a:t>ABSTRACTHON 2026  ·  Partner call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92240"/>
            <a:ext cx="59436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A3A3A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E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92240"/>
            <a:ext cx="59436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A3A3A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2.png"/><Relationship Id="rId5" Type="http://schemas.openxmlformats.org/officeDocument/2006/relationships/image" Target="../media/image-2-5.png"/><Relationship Id="rId6" Type="http://schemas.openxmlformats.org/officeDocument/2006/relationships/image" Target="../media/image-2-3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4.xml"/><Relationship Id="rId9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C:\Dev\abstracthon-web\public\img\abstracthon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84048"/>
            <a:ext cx="3200400" cy="1188720"/>
          </a:xfrm>
          <a:prstGeom prst="rect">
            <a:avLst/>
          </a:prstGeom>
        </p:spPr>
      </p:pic>
      <p:pic>
        <p:nvPicPr>
          <p:cNvPr id="3" name="mlsa" descr="C:\Dev\abstracthon-web\docs\sponsor\mlsa-imagotip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6920" y="256032"/>
            <a:ext cx="2011680" cy="1673352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02920" y="2084832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25022"/>
                </a:solidFill>
              </a:rPr>
              <a:t>PARTNER CALL</a:t>
            </a:r>
            <a:endParaRPr lang="en-US" sz="1300" dirty="0"/>
          </a:p>
        </p:txBody>
      </p:sp>
      <p:sp>
        <p:nvSpPr>
          <p:cNvPr id="5" name="Text 1"/>
          <p:cNvSpPr txBox="1"/>
          <p:nvPr/>
        </p:nvSpPr>
        <p:spPr>
          <a:xfrm>
            <a:off x="502920" y="2414016"/>
            <a:ext cx="10972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Sponsor a weekend of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builders, not a banner</a:t>
            </a:r>
            <a:endParaRPr lang="en-US" sz="3600" dirty="0"/>
          </a:p>
        </p:txBody>
      </p:sp>
      <p:sp>
        <p:nvSpPr>
          <p:cNvPr id="6" name="Text 2"/>
          <p:cNvSpPr txBox="1"/>
          <p:nvPr/>
        </p:nvSpPr>
        <p:spPr>
          <a:xfrm>
            <a:off x="502920" y="40233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E8E8"/>
                </a:solidFill>
              </a:rPr>
              <a:t>In-person hackathon in Bolivia  ·  21 November 2026  ·  Santa Cruz and Oruro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8E8E8"/>
                </a:solidFill>
              </a:rPr>
              <a:t>Organized by Microsoft Learn Student Ambassadors – University Community</a:t>
            </a:r>
            <a:endParaRPr lang="en-US" sz="1600" dirty="0"/>
          </a:p>
        </p:txBody>
      </p:sp>
      <p:sp>
        <p:nvSpPr>
          <p:cNvPr id="7" name="cover-track-0-bg"/>
          <p:cNvSpPr/>
          <p:nvPr/>
        </p:nvSpPr>
        <p:spPr>
          <a:xfrm>
            <a:off x="502920" y="5029200"/>
            <a:ext cx="384048" cy="384048"/>
          </a:xfrm>
          <a:prstGeom prst="ellipse">
            <a:avLst/>
          </a:prstGeom>
          <a:solidFill>
            <a:srgbClr val="F25022"/>
          </a:solidFill>
          <a:ln/>
        </p:spPr>
      </p:sp>
      <p:pic>
        <p:nvPicPr>
          <p:cNvPr id="8" name="cover-track-0" descr="C:\Dev\abstracthon-web\docs\sponsor\icons\walle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251" y="5117531"/>
            <a:ext cx="207386" cy="207386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978408" y="5065776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Finance</a:t>
            </a:r>
            <a:endParaRPr lang="en-US" sz="1400" dirty="0"/>
          </a:p>
        </p:txBody>
      </p:sp>
      <p:sp>
        <p:nvSpPr>
          <p:cNvPr id="10" name="cover-track-1-bg"/>
          <p:cNvSpPr/>
          <p:nvPr/>
        </p:nvSpPr>
        <p:spPr>
          <a:xfrm>
            <a:off x="3355848" y="5029200"/>
            <a:ext cx="384048" cy="384048"/>
          </a:xfrm>
          <a:prstGeom prst="ellipse">
            <a:avLst/>
          </a:prstGeom>
          <a:solidFill>
            <a:srgbClr val="7FBA00"/>
          </a:solidFill>
          <a:ln/>
        </p:spPr>
      </p:sp>
      <p:pic>
        <p:nvPicPr>
          <p:cNvPr id="11" name="cover-track-1" descr="C:\Dev\abstracthon-web\docs\sponsor\icons\boo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4179" y="5117531"/>
            <a:ext cx="207386" cy="207386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3831336" y="5065776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Education</a:t>
            </a:r>
            <a:endParaRPr lang="en-US" sz="1400" dirty="0"/>
          </a:p>
        </p:txBody>
      </p:sp>
      <p:sp>
        <p:nvSpPr>
          <p:cNvPr id="13" name="cover-track-2-bg"/>
          <p:cNvSpPr/>
          <p:nvPr/>
        </p:nvSpPr>
        <p:spPr>
          <a:xfrm>
            <a:off x="6208776" y="5029200"/>
            <a:ext cx="384048" cy="384048"/>
          </a:xfrm>
          <a:prstGeom prst="ellipse">
            <a:avLst/>
          </a:prstGeom>
          <a:solidFill>
            <a:srgbClr val="FFB900"/>
          </a:solidFill>
          <a:ln/>
        </p:spPr>
      </p:sp>
      <p:pic>
        <p:nvPicPr>
          <p:cNvPr id="14" name="cover-track-2" descr="C:\Dev\abstracthon-web\docs\sponsor\icons\cha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7107" y="5117531"/>
            <a:ext cx="207386" cy="207386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6684264" y="5065776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Communication</a:t>
            </a:r>
            <a:endParaRPr lang="en-US" sz="1400" dirty="0"/>
          </a:p>
        </p:txBody>
      </p:sp>
      <p:sp>
        <p:nvSpPr>
          <p:cNvPr id="16" name="cover-track-3-bg"/>
          <p:cNvSpPr/>
          <p:nvPr/>
        </p:nvSpPr>
        <p:spPr>
          <a:xfrm>
            <a:off x="9061704" y="5029200"/>
            <a:ext cx="384048" cy="384048"/>
          </a:xfrm>
          <a:prstGeom prst="ellipse">
            <a:avLst/>
          </a:prstGeom>
          <a:solidFill>
            <a:srgbClr val="00A4EF"/>
          </a:solidFill>
          <a:ln/>
        </p:spPr>
      </p:sp>
      <p:pic>
        <p:nvPicPr>
          <p:cNvPr id="17" name="cover-track-3" descr="C:\Dev\abstracthon-web\docs\sponsor\icons\hear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50035" y="5117531"/>
            <a:ext cx="207386" cy="207386"/>
          </a:xfrm>
          <a:prstGeom prst="rect">
            <a:avLst/>
          </a:prstGeom>
        </p:spPr>
      </p:pic>
      <p:sp>
        <p:nvSpPr>
          <p:cNvPr id="18" name="Text 10"/>
          <p:cNvSpPr txBox="1"/>
          <p:nvPr/>
        </p:nvSpPr>
        <p:spPr>
          <a:xfrm>
            <a:off x="9537192" y="5065776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Tech for good</a:t>
            </a:r>
            <a:endParaRPr lang="en-US" sz="1400" dirty="0"/>
          </a:p>
        </p:txBody>
      </p:sp>
      <p:sp>
        <p:nvSpPr>
          <p:cNvPr id="19" name="Text 11"/>
          <p:cNvSpPr txBox="1"/>
          <p:nvPr/>
        </p:nvSpPr>
        <p:spPr>
          <a:xfrm>
            <a:off x="502920" y="59893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B900"/>
                </a:solidFill>
              </a:rPr>
              <a:t>Abstráete y crea el futuro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37744"/>
            <a:ext cx="11155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weekend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896112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E8E8"/>
                </a:solidFill>
              </a:rPr>
              <a:t>First edition. We do not inflate headcount: we sell access, mentoring and a pitch. Your company shows up in the workshop, on the floor, or on the jury for your prize.</a:t>
            </a:r>
            <a:endParaRPr lang="en-US" sz="1500" dirty="0"/>
          </a:p>
        </p:txBody>
      </p:sp>
      <p:sp>
        <p:nvSpPr>
          <p:cNvPr id="4" name="day-0"/>
          <p:cNvSpPr/>
          <p:nvPr/>
        </p:nvSpPr>
        <p:spPr>
          <a:xfrm>
            <a:off x="502920" y="1417320"/>
            <a:ext cx="3611880" cy="3063240"/>
          </a:xfrm>
          <a:prstGeom prst="roundRect">
            <a:avLst>
              <a:gd name="adj" fmla="val 2985"/>
            </a:avLst>
          </a:prstGeom>
          <a:solidFill>
            <a:srgbClr val="1C1C1C"/>
          </a:solidFill>
          <a:ln/>
        </p:spPr>
      </p:sp>
      <p:sp>
        <p:nvSpPr>
          <p:cNvPr id="5" name="day-icon-0-bg"/>
          <p:cNvSpPr/>
          <p:nvPr/>
        </p:nvSpPr>
        <p:spPr>
          <a:xfrm>
            <a:off x="740664" y="1572768"/>
            <a:ext cx="402336" cy="402336"/>
          </a:xfrm>
          <a:prstGeom prst="ellipse">
            <a:avLst/>
          </a:prstGeom>
          <a:solidFill>
            <a:srgbClr val="F25022"/>
          </a:solidFill>
          <a:ln/>
        </p:spPr>
      </p:sp>
      <p:pic>
        <p:nvPicPr>
          <p:cNvPr id="6" name="day-icon-0" descr="C:\Dev\abstracthon-web\docs\sponsor\icons\calend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3201" y="1665305"/>
            <a:ext cx="217261" cy="21726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252728" y="1627632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01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740664" y="210312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25022"/>
                </a:solidFill>
              </a:rPr>
              <a:t>FRIDAY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740664" y="2322576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3A3A3"/>
                </a:solidFill>
              </a:rPr>
              <a:t>19:00  ·  virtual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740664" y="2615184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Rules and workshop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740664" y="2980944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8E8E8"/>
                </a:solidFill>
              </a:rPr>
              <a:t>Kickoff. Activation and Ownership can place a launch workshop here.</a:t>
            </a:r>
            <a:endParaRPr lang="en-US" sz="1400" dirty="0"/>
          </a:p>
        </p:txBody>
      </p:sp>
      <p:sp>
        <p:nvSpPr>
          <p:cNvPr id="12" name="day-1"/>
          <p:cNvSpPr/>
          <p:nvPr/>
        </p:nvSpPr>
        <p:spPr>
          <a:xfrm>
            <a:off x="4297680" y="1417320"/>
            <a:ext cx="3611880" cy="3063240"/>
          </a:xfrm>
          <a:prstGeom prst="roundRect">
            <a:avLst>
              <a:gd name="adj" fmla="val 2985"/>
            </a:avLst>
          </a:prstGeom>
          <a:solidFill>
            <a:srgbClr val="1C1C1C"/>
          </a:solidFill>
          <a:ln/>
        </p:spPr>
      </p:sp>
      <p:sp>
        <p:nvSpPr>
          <p:cNvPr id="13" name="day-icon-1-bg"/>
          <p:cNvSpPr/>
          <p:nvPr/>
        </p:nvSpPr>
        <p:spPr>
          <a:xfrm>
            <a:off x="4535424" y="1572768"/>
            <a:ext cx="402336" cy="402336"/>
          </a:xfrm>
          <a:prstGeom prst="ellipse">
            <a:avLst/>
          </a:prstGeom>
          <a:solidFill>
            <a:srgbClr val="7FBA00"/>
          </a:solidFill>
          <a:ln/>
        </p:spPr>
      </p:sp>
      <p:pic>
        <p:nvPicPr>
          <p:cNvPr id="14" name="day-icon-1" descr="C:\Dev\abstracthon-web\docs\sponsor\icons\us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7961" y="1665305"/>
            <a:ext cx="217261" cy="217261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5047488" y="1627632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02</a:t>
            </a:r>
            <a:endParaRPr lang="en-US" sz="1600" dirty="0"/>
          </a:p>
        </p:txBody>
      </p:sp>
      <p:sp>
        <p:nvSpPr>
          <p:cNvPr id="16" name="Text 12"/>
          <p:cNvSpPr txBox="1"/>
          <p:nvPr/>
        </p:nvSpPr>
        <p:spPr>
          <a:xfrm>
            <a:off x="4535424" y="210312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7FBA00"/>
                </a:solidFill>
              </a:rPr>
              <a:t>SATURDAY</a:t>
            </a:r>
            <a:endParaRPr lang="en-US" sz="1200" dirty="0"/>
          </a:p>
        </p:txBody>
      </p:sp>
      <p:sp>
        <p:nvSpPr>
          <p:cNvPr id="17" name="Text 13"/>
          <p:cNvSpPr txBox="1"/>
          <p:nvPr/>
        </p:nvSpPr>
        <p:spPr>
          <a:xfrm>
            <a:off x="4535424" y="2322576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3A3A3"/>
                </a:solidFill>
              </a:rPr>
              <a:t>08:00–18:00  ·  on site</a:t>
            </a:r>
            <a:endParaRPr lang="en-US" sz="1300" dirty="0"/>
          </a:p>
        </p:txBody>
      </p:sp>
      <p:sp>
        <p:nvSpPr>
          <p:cNvPr id="18" name="Text 14"/>
          <p:cNvSpPr txBox="1"/>
          <p:nvPr/>
        </p:nvSpPr>
        <p:spPr>
          <a:xfrm>
            <a:off x="4535424" y="2615184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Hacking and mentoring</a:t>
            </a:r>
            <a:endParaRPr lang="en-US" sz="1800" dirty="0"/>
          </a:p>
        </p:txBody>
      </p:sp>
      <p:sp>
        <p:nvSpPr>
          <p:cNvPr id="19" name="Text 15"/>
          <p:cNvSpPr txBox="1"/>
          <p:nvPr/>
        </p:nvSpPr>
        <p:spPr>
          <a:xfrm>
            <a:off x="4535424" y="2980944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8E8E8"/>
                </a:solidFill>
              </a:rPr>
              <a:t>Teams in Santa Cruz (UCB) and Oruro. Mentors on the floor. This is where the challenge gets used.</a:t>
            </a:r>
            <a:endParaRPr lang="en-US" sz="1400" dirty="0"/>
          </a:p>
        </p:txBody>
      </p:sp>
      <p:sp>
        <p:nvSpPr>
          <p:cNvPr id="20" name="day-2"/>
          <p:cNvSpPr/>
          <p:nvPr/>
        </p:nvSpPr>
        <p:spPr>
          <a:xfrm>
            <a:off x="8092440" y="1417320"/>
            <a:ext cx="3611880" cy="3063240"/>
          </a:xfrm>
          <a:prstGeom prst="roundRect">
            <a:avLst>
              <a:gd name="adj" fmla="val 2985"/>
            </a:avLst>
          </a:prstGeom>
          <a:solidFill>
            <a:srgbClr val="1C1C1C"/>
          </a:solidFill>
          <a:ln/>
        </p:spPr>
      </p:sp>
      <p:sp>
        <p:nvSpPr>
          <p:cNvPr id="21" name="day-icon-2-bg"/>
          <p:cNvSpPr/>
          <p:nvPr/>
        </p:nvSpPr>
        <p:spPr>
          <a:xfrm>
            <a:off x="8330184" y="1572768"/>
            <a:ext cx="402336" cy="402336"/>
          </a:xfrm>
          <a:prstGeom prst="ellipse">
            <a:avLst/>
          </a:prstGeom>
          <a:solidFill>
            <a:srgbClr val="FFB900"/>
          </a:solidFill>
          <a:ln/>
        </p:spPr>
      </p:sp>
      <p:pic>
        <p:nvPicPr>
          <p:cNvPr id="22" name="day-icon-2" descr="C:\Dev\abstracthon-web\docs\sponsor\icons\spar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2721" y="1665305"/>
            <a:ext cx="217261" cy="217261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8842248" y="1627632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03</a:t>
            </a:r>
            <a:endParaRPr lang="en-US" sz="1600" dirty="0"/>
          </a:p>
        </p:txBody>
      </p:sp>
      <p:sp>
        <p:nvSpPr>
          <p:cNvPr id="24" name="Text 19"/>
          <p:cNvSpPr txBox="1"/>
          <p:nvPr/>
        </p:nvSpPr>
        <p:spPr>
          <a:xfrm>
            <a:off x="8330184" y="210312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FB900"/>
                </a:solidFill>
              </a:rPr>
              <a:t>SUNDAY</a:t>
            </a:r>
            <a:endParaRPr lang="en-US" sz="1200" dirty="0"/>
          </a:p>
        </p:txBody>
      </p:sp>
      <p:sp>
        <p:nvSpPr>
          <p:cNvPr id="25" name="Text 20"/>
          <p:cNvSpPr txBox="1"/>
          <p:nvPr/>
        </p:nvSpPr>
        <p:spPr>
          <a:xfrm>
            <a:off x="8330184" y="2322576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3A3A3"/>
                </a:solidFill>
              </a:rPr>
              <a:t>virtual  ·  time TBD</a:t>
            </a:r>
            <a:endParaRPr lang="en-US" sz="1300" dirty="0"/>
          </a:p>
        </p:txBody>
      </p:sp>
      <p:sp>
        <p:nvSpPr>
          <p:cNvPr id="26" name="Text 21"/>
          <p:cNvSpPr txBox="1"/>
          <p:nvPr/>
        </p:nvSpPr>
        <p:spPr>
          <a:xfrm>
            <a:off x="8330184" y="2615184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Pitch and jury</a:t>
            </a:r>
            <a:endParaRPr lang="en-US" sz="1800" dirty="0"/>
          </a:p>
        </p:txBody>
      </p:sp>
      <p:sp>
        <p:nvSpPr>
          <p:cNvPr id="27" name="Text 22"/>
          <p:cNvSpPr txBox="1"/>
          <p:nvPr/>
        </p:nvSpPr>
        <p:spPr>
          <a:xfrm>
            <a:off x="8330184" y="2980944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8E8E8"/>
                </a:solidFill>
              </a:rPr>
              <a:t>A 5-minute pitch. One vote on your prize. Abstracthon keeps the overall winner.</a:t>
            </a:r>
            <a:endParaRPr lang="en-US" sz="1400" dirty="0"/>
          </a:p>
        </p:txBody>
      </p:sp>
      <p:sp>
        <p:nvSpPr>
          <p:cNvPr id="28" name="why-0"/>
          <p:cNvSpPr/>
          <p:nvPr/>
        </p:nvSpPr>
        <p:spPr>
          <a:xfrm>
            <a:off x="502920" y="4617720"/>
            <a:ext cx="3611880" cy="1691640"/>
          </a:xfrm>
          <a:prstGeom prst="roundRect">
            <a:avLst>
              <a:gd name="adj" fmla="val 5405"/>
            </a:avLst>
          </a:prstGeom>
          <a:solidFill>
            <a:srgbClr val="1C1C1C"/>
          </a:solidFill>
          <a:ln/>
        </p:spPr>
      </p:sp>
      <p:sp>
        <p:nvSpPr>
          <p:cNvPr id="29" name="why-icon-0-bg"/>
          <p:cNvSpPr/>
          <p:nvPr/>
        </p:nvSpPr>
        <p:spPr>
          <a:xfrm>
            <a:off x="704088" y="4736592"/>
            <a:ext cx="402336" cy="402336"/>
          </a:xfrm>
          <a:prstGeom prst="ellipse">
            <a:avLst/>
          </a:prstGeom>
          <a:solidFill>
            <a:srgbClr val="F25022"/>
          </a:solidFill>
          <a:ln/>
        </p:spPr>
      </p:sp>
      <p:pic>
        <p:nvPicPr>
          <p:cNvPr id="30" name="why-icon-0" descr="C:\Dev\abstracthon-web\docs\sponsor\icons\user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6625" y="4829129"/>
            <a:ext cx="217261" cy="217261"/>
          </a:xfrm>
          <a:prstGeom prst="rect">
            <a:avLst/>
          </a:prstGeom>
        </p:spPr>
      </p:pic>
      <p:sp>
        <p:nvSpPr>
          <p:cNvPr id="31" name="Text 25"/>
          <p:cNvSpPr txBox="1"/>
          <p:nvPr/>
        </p:nvSpPr>
        <p:spPr>
          <a:xfrm>
            <a:off x="1197864" y="4791456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25022"/>
                </a:solidFill>
              </a:rPr>
              <a:t>TALENT</a:t>
            </a:r>
            <a:endParaRPr lang="en-US" sz="1200" dirty="0"/>
          </a:p>
        </p:txBody>
      </p:sp>
      <p:sp>
        <p:nvSpPr>
          <p:cNvPr id="32" name="Text 26"/>
          <p:cNvSpPr txBox="1"/>
          <p:nvPr/>
        </p:nvSpPr>
        <p:spPr>
          <a:xfrm>
            <a:off x="740664" y="5230368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Watch them build, not just a CV.</a:t>
            </a:r>
            <a:endParaRPr lang="en-US" sz="1600" dirty="0"/>
          </a:p>
        </p:txBody>
      </p:sp>
      <p:sp>
        <p:nvSpPr>
          <p:cNvPr id="33" name="why-1"/>
          <p:cNvSpPr/>
          <p:nvPr/>
        </p:nvSpPr>
        <p:spPr>
          <a:xfrm>
            <a:off x="4297680" y="4617720"/>
            <a:ext cx="3611880" cy="1691640"/>
          </a:xfrm>
          <a:prstGeom prst="roundRect">
            <a:avLst>
              <a:gd name="adj" fmla="val 5405"/>
            </a:avLst>
          </a:prstGeom>
          <a:solidFill>
            <a:srgbClr val="1C1C1C"/>
          </a:solidFill>
          <a:ln/>
        </p:spPr>
      </p:sp>
      <p:sp>
        <p:nvSpPr>
          <p:cNvPr id="34" name="why-icon-1-bg"/>
          <p:cNvSpPr/>
          <p:nvPr/>
        </p:nvSpPr>
        <p:spPr>
          <a:xfrm>
            <a:off x="4498848" y="4736592"/>
            <a:ext cx="402336" cy="402336"/>
          </a:xfrm>
          <a:prstGeom prst="ellipse">
            <a:avLst/>
          </a:prstGeom>
          <a:solidFill>
            <a:srgbClr val="7FBA00"/>
          </a:solidFill>
          <a:ln/>
        </p:spPr>
      </p:sp>
      <p:pic>
        <p:nvPicPr>
          <p:cNvPr id="35" name="why-icon-1" descr="C:\Dev\abstracthon-web\docs\sponsor\icons\layer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91385" y="4829129"/>
            <a:ext cx="217261" cy="217261"/>
          </a:xfrm>
          <a:prstGeom prst="rect">
            <a:avLst/>
          </a:prstGeom>
        </p:spPr>
      </p:pic>
      <p:sp>
        <p:nvSpPr>
          <p:cNvPr id="36" name="Text 29"/>
          <p:cNvSpPr txBox="1"/>
          <p:nvPr/>
        </p:nvSpPr>
        <p:spPr>
          <a:xfrm>
            <a:off x="4992624" y="4791456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7FBA00"/>
                </a:solidFill>
              </a:rPr>
              <a:t>PRODUCT</a:t>
            </a:r>
            <a:endParaRPr lang="en-US" sz="1200" dirty="0"/>
          </a:p>
        </p:txBody>
      </p:sp>
      <p:sp>
        <p:nvSpPr>
          <p:cNvPr id="37" name="Text 30"/>
          <p:cNvSpPr txBox="1"/>
          <p:nvPr/>
        </p:nvSpPr>
        <p:spPr>
          <a:xfrm>
            <a:off x="4535424" y="5230368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 named challenge and a Sunday vote.</a:t>
            </a:r>
            <a:endParaRPr lang="en-US" sz="1600" dirty="0"/>
          </a:p>
        </p:txBody>
      </p:sp>
      <p:sp>
        <p:nvSpPr>
          <p:cNvPr id="38" name="why-2"/>
          <p:cNvSpPr/>
          <p:nvPr/>
        </p:nvSpPr>
        <p:spPr>
          <a:xfrm>
            <a:off x="8092440" y="4617720"/>
            <a:ext cx="3611880" cy="1691640"/>
          </a:xfrm>
          <a:prstGeom prst="roundRect">
            <a:avLst>
              <a:gd name="adj" fmla="val 5405"/>
            </a:avLst>
          </a:prstGeom>
          <a:solidFill>
            <a:srgbClr val="1C1C1C"/>
          </a:solidFill>
          <a:ln/>
        </p:spPr>
      </p:sp>
      <p:sp>
        <p:nvSpPr>
          <p:cNvPr id="39" name="why-icon-2-bg"/>
          <p:cNvSpPr/>
          <p:nvPr/>
        </p:nvSpPr>
        <p:spPr>
          <a:xfrm>
            <a:off x="8293608" y="4736592"/>
            <a:ext cx="402336" cy="402336"/>
          </a:xfrm>
          <a:prstGeom prst="ellipse">
            <a:avLst/>
          </a:prstGeom>
          <a:solidFill>
            <a:srgbClr val="FFB900"/>
          </a:solidFill>
          <a:ln/>
        </p:spPr>
      </p:sp>
      <p:pic>
        <p:nvPicPr>
          <p:cNvPr id="40" name="why-icon-2" descr="C:\Dev\abstracthon-web\docs\sponsor\icons\spar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6145" y="4829129"/>
            <a:ext cx="217261" cy="217261"/>
          </a:xfrm>
          <a:prstGeom prst="rect">
            <a:avLst/>
          </a:prstGeom>
        </p:spPr>
      </p:pic>
      <p:sp>
        <p:nvSpPr>
          <p:cNvPr id="41" name="Text 33"/>
          <p:cNvSpPr txBox="1"/>
          <p:nvPr/>
        </p:nvSpPr>
        <p:spPr>
          <a:xfrm>
            <a:off x="8787384" y="4791456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FB900"/>
                </a:solidFill>
              </a:rPr>
              <a:t>BRAND</a:t>
            </a:r>
            <a:endParaRPr lang="en-US" sz="1200" dirty="0"/>
          </a:p>
        </p:txBody>
      </p:sp>
      <p:sp>
        <p:nvSpPr>
          <p:cNvPr id="42" name="Text 34"/>
          <p:cNvSpPr txBox="1"/>
          <p:nvPr/>
        </p:nvSpPr>
        <p:spPr>
          <a:xfrm>
            <a:off x="8330184" y="5230368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Next to builders, with a post-event report.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92240"/>
            <a:ext cx="59436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A3A3A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37744"/>
            <a:ext cx="11155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tracks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896112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E8E8"/>
                </a:solidFill>
              </a:rPr>
              <a:t>The first three are exclusive. Tech for good combines two or more. That is where your company sets the problem.</a:t>
            </a:r>
            <a:endParaRPr lang="en-US" sz="1500" dirty="0"/>
          </a:p>
        </p:txBody>
      </p:sp>
      <p:sp>
        <p:nvSpPr>
          <p:cNvPr id="4" name="track-0"/>
          <p:cNvSpPr/>
          <p:nvPr/>
        </p:nvSpPr>
        <p:spPr>
          <a:xfrm>
            <a:off x="502920" y="1371600"/>
            <a:ext cx="11155680" cy="1097280"/>
          </a:xfrm>
          <a:prstGeom prst="roundRect">
            <a:avLst>
              <a:gd name="adj" fmla="val 6667"/>
            </a:avLst>
          </a:prstGeom>
          <a:solidFill>
            <a:srgbClr val="1C1C1C"/>
          </a:solidFill>
          <a:ln/>
        </p:spPr>
      </p:sp>
      <p:sp>
        <p:nvSpPr>
          <p:cNvPr id="5" name="track-icon-0-bg"/>
          <p:cNvSpPr/>
          <p:nvPr/>
        </p:nvSpPr>
        <p:spPr>
          <a:xfrm>
            <a:off x="713232" y="1536192"/>
            <a:ext cx="438912" cy="438912"/>
          </a:xfrm>
          <a:prstGeom prst="ellipse">
            <a:avLst/>
          </a:prstGeom>
          <a:solidFill>
            <a:srgbClr val="F25022"/>
          </a:solidFill>
          <a:ln/>
        </p:spPr>
      </p:sp>
      <p:pic>
        <p:nvPicPr>
          <p:cNvPr id="6" name="track-icon-0" descr="C:\Dev\abstracthon-web\docs\sponsor\icons\wall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182" y="1637142"/>
            <a:ext cx="237012" cy="23701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71600" y="1499616"/>
            <a:ext cx="9966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Finance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1371600" y="1847088"/>
            <a:ext cx="9966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8E8"/>
                </a:solidFill>
              </a:rPr>
              <a:t>The problem has to be about money: paying, saving or getting paid. A generic app with a pay button does not qualify.</a:t>
            </a:r>
            <a:endParaRPr lang="en-US" sz="1400" dirty="0"/>
          </a:p>
        </p:txBody>
      </p:sp>
      <p:sp>
        <p:nvSpPr>
          <p:cNvPr id="9" name="track-1"/>
          <p:cNvSpPr/>
          <p:nvPr/>
        </p:nvSpPr>
        <p:spPr>
          <a:xfrm>
            <a:off x="502920" y="2578608"/>
            <a:ext cx="11155680" cy="1097280"/>
          </a:xfrm>
          <a:prstGeom prst="roundRect">
            <a:avLst>
              <a:gd name="adj" fmla="val 6667"/>
            </a:avLst>
          </a:prstGeom>
          <a:solidFill>
            <a:srgbClr val="1C1C1C"/>
          </a:solidFill>
          <a:ln/>
        </p:spPr>
      </p:sp>
      <p:sp>
        <p:nvSpPr>
          <p:cNvPr id="10" name="track-icon-1-bg"/>
          <p:cNvSpPr/>
          <p:nvPr/>
        </p:nvSpPr>
        <p:spPr>
          <a:xfrm>
            <a:off x="713232" y="2743200"/>
            <a:ext cx="438912" cy="438912"/>
          </a:xfrm>
          <a:prstGeom prst="ellipse">
            <a:avLst/>
          </a:prstGeom>
          <a:solidFill>
            <a:srgbClr val="7FBA00"/>
          </a:solidFill>
          <a:ln/>
        </p:spPr>
      </p:sp>
      <p:pic>
        <p:nvPicPr>
          <p:cNvPr id="11" name="track-icon-1" descr="C:\Dev\abstracthon-web\docs\sponsor\icons\boo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4182" y="2844150"/>
            <a:ext cx="237012" cy="23701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371600" y="2706624"/>
            <a:ext cx="9966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Education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1371600" y="3054096"/>
            <a:ext cx="9966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8E8"/>
                </a:solidFill>
              </a:rPr>
              <a:t>The problem has to be about learning, teaching or access to training. A study app with no real education problem does not qualify.</a:t>
            </a:r>
            <a:endParaRPr lang="en-US" sz="1400" dirty="0"/>
          </a:p>
        </p:txBody>
      </p:sp>
      <p:sp>
        <p:nvSpPr>
          <p:cNvPr id="14" name="track-2"/>
          <p:cNvSpPr/>
          <p:nvPr/>
        </p:nvSpPr>
        <p:spPr>
          <a:xfrm>
            <a:off x="502920" y="3785616"/>
            <a:ext cx="11155680" cy="1097280"/>
          </a:xfrm>
          <a:prstGeom prst="roundRect">
            <a:avLst>
              <a:gd name="adj" fmla="val 6667"/>
            </a:avLst>
          </a:prstGeom>
          <a:solidFill>
            <a:srgbClr val="1C1C1C"/>
          </a:solidFill>
          <a:ln/>
        </p:spPr>
      </p:sp>
      <p:sp>
        <p:nvSpPr>
          <p:cNvPr id="15" name="track-icon-2-bg"/>
          <p:cNvSpPr/>
          <p:nvPr/>
        </p:nvSpPr>
        <p:spPr>
          <a:xfrm>
            <a:off x="713232" y="3950208"/>
            <a:ext cx="438912" cy="438912"/>
          </a:xfrm>
          <a:prstGeom prst="ellipse">
            <a:avLst/>
          </a:prstGeom>
          <a:solidFill>
            <a:srgbClr val="FFB900"/>
          </a:solidFill>
          <a:ln/>
        </p:spPr>
      </p:sp>
      <p:pic>
        <p:nvPicPr>
          <p:cNvPr id="16" name="track-icon-2" descr="C:\Dev\abstracthon-web\docs\sponsor\icons\cha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182" y="4051158"/>
            <a:ext cx="237012" cy="23701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371600" y="3913632"/>
            <a:ext cx="9966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Communication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1371600" y="4261104"/>
            <a:ext cx="9966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8E8"/>
                </a:solidFill>
              </a:rPr>
              <a:t>The problem has to be about informing or connecting a group. A generic chat app does not qualify.</a:t>
            </a:r>
            <a:endParaRPr lang="en-US" sz="1400" dirty="0"/>
          </a:p>
        </p:txBody>
      </p:sp>
      <p:sp>
        <p:nvSpPr>
          <p:cNvPr id="19" name="track-3"/>
          <p:cNvSpPr/>
          <p:nvPr/>
        </p:nvSpPr>
        <p:spPr>
          <a:xfrm>
            <a:off x="502920" y="4992624"/>
            <a:ext cx="11155680" cy="1097280"/>
          </a:xfrm>
          <a:prstGeom prst="roundRect">
            <a:avLst>
              <a:gd name="adj" fmla="val 6667"/>
            </a:avLst>
          </a:prstGeom>
          <a:solidFill>
            <a:srgbClr val="1C1C1C"/>
          </a:solidFill>
          <a:ln/>
        </p:spPr>
      </p:sp>
      <p:sp>
        <p:nvSpPr>
          <p:cNvPr id="20" name="track-icon-3-bg"/>
          <p:cNvSpPr/>
          <p:nvPr/>
        </p:nvSpPr>
        <p:spPr>
          <a:xfrm>
            <a:off x="713232" y="5157216"/>
            <a:ext cx="438912" cy="438912"/>
          </a:xfrm>
          <a:prstGeom prst="ellipse">
            <a:avLst/>
          </a:prstGeom>
          <a:solidFill>
            <a:srgbClr val="00A4EF"/>
          </a:solidFill>
          <a:ln/>
        </p:spPr>
      </p:sp>
      <p:pic>
        <p:nvPicPr>
          <p:cNvPr id="21" name="track-icon-3" descr="C:\Dev\abstracthon-web\docs\sponsor\icons\hear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182" y="5258166"/>
            <a:ext cx="237012" cy="237012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371600" y="5120640"/>
            <a:ext cx="9966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Tech for good</a:t>
            </a:r>
            <a:endParaRPr lang="en-US" sz="1800" dirty="0"/>
          </a:p>
        </p:txBody>
      </p:sp>
      <p:sp>
        <p:nvSpPr>
          <p:cNvPr id="23" name="Text 17"/>
          <p:cNvSpPr txBox="1"/>
          <p:nvPr/>
        </p:nvSpPr>
        <p:spPr>
          <a:xfrm>
            <a:off x="1371600" y="5468112"/>
            <a:ext cx="9966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8E8"/>
                </a:solidFill>
              </a:rPr>
              <a:t>Combine 2 or more of the tracks above. A single track, or a brand-new theme, does not count.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92240"/>
            <a:ext cx="59436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A3A3A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37744"/>
            <a:ext cx="11155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plans</a:t>
            </a:r>
            <a:endParaRPr lang="en-US" sz="3600" dirty="0"/>
          </a:p>
        </p:txBody>
      </p:sp>
      <p:sp>
        <p:nvSpPr>
          <p:cNvPr id="3" name="price-0"/>
          <p:cNvSpPr/>
          <p:nvPr/>
        </p:nvSpPr>
        <p:spPr>
          <a:xfrm>
            <a:off x="502920" y="914400"/>
            <a:ext cx="3611880" cy="1234440"/>
          </a:xfrm>
          <a:prstGeom prst="roundRect">
            <a:avLst>
              <a:gd name="adj" fmla="val 7407"/>
            </a:avLst>
          </a:prstGeom>
          <a:solidFill>
            <a:srgbClr val="1C1C1C"/>
          </a:solidFill>
          <a:ln/>
        </p:spPr>
      </p:sp>
      <p:sp>
        <p:nvSpPr>
          <p:cNvPr id="4" name="plan-icon-0-bg"/>
          <p:cNvSpPr/>
          <p:nvPr/>
        </p:nvSpPr>
        <p:spPr>
          <a:xfrm>
            <a:off x="704088" y="1078992"/>
            <a:ext cx="402336" cy="402336"/>
          </a:xfrm>
          <a:prstGeom prst="ellipse">
            <a:avLst/>
          </a:prstGeom>
          <a:solidFill>
            <a:srgbClr val="F25022"/>
          </a:solidFill>
          <a:ln/>
        </p:spPr>
      </p:sp>
      <p:pic>
        <p:nvPicPr>
          <p:cNvPr id="5" name="plan-icon-0" descr="C:\Dev\abstracthon-web\docs\sponsor\icons\glob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6625" y="1171529"/>
            <a:ext cx="217261" cy="217261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16152" y="1024128"/>
            <a:ext cx="2697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25022"/>
                </a:solidFill>
              </a:rPr>
              <a:t>VISIBILITY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1216152" y="1243584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USD 300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1216152" y="1664208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8E8"/>
                </a:solidFill>
              </a:rPr>
              <a:t>Be present</a:t>
            </a:r>
            <a:endParaRPr lang="en-US" sz="1400" dirty="0"/>
          </a:p>
        </p:txBody>
      </p:sp>
      <p:sp>
        <p:nvSpPr>
          <p:cNvPr id="9" name="price-1"/>
          <p:cNvSpPr/>
          <p:nvPr/>
        </p:nvSpPr>
        <p:spPr>
          <a:xfrm>
            <a:off x="4297680" y="914400"/>
            <a:ext cx="3611880" cy="1234440"/>
          </a:xfrm>
          <a:prstGeom prst="roundRect">
            <a:avLst>
              <a:gd name="adj" fmla="val 7407"/>
            </a:avLst>
          </a:prstGeom>
          <a:solidFill>
            <a:srgbClr val="1C1C1C"/>
          </a:solidFill>
          <a:ln/>
        </p:spPr>
      </p:sp>
      <p:sp>
        <p:nvSpPr>
          <p:cNvPr id="10" name="plan-icon-1-bg"/>
          <p:cNvSpPr/>
          <p:nvPr/>
        </p:nvSpPr>
        <p:spPr>
          <a:xfrm>
            <a:off x="4498848" y="1078992"/>
            <a:ext cx="402336" cy="402336"/>
          </a:xfrm>
          <a:prstGeom prst="ellipse">
            <a:avLst/>
          </a:prstGeom>
          <a:solidFill>
            <a:srgbClr val="FFB900"/>
          </a:solidFill>
          <a:ln/>
        </p:spPr>
      </p:sp>
      <p:pic>
        <p:nvPicPr>
          <p:cNvPr id="11" name="plan-icon-1" descr="C:\Dev\abstracthon-web\docs\sponsor\icons\us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1385" y="1171529"/>
            <a:ext cx="217261" cy="217261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010912" y="1024128"/>
            <a:ext cx="2697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FB900"/>
                </a:solidFill>
              </a:rPr>
              <a:t>ACTIVATION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5010912" y="1243584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USD 500</a:t>
            </a:r>
            <a:endParaRPr lang="en-US" sz="2600" dirty="0"/>
          </a:p>
        </p:txBody>
      </p:sp>
      <p:sp>
        <p:nvSpPr>
          <p:cNvPr id="14" name="Text 10"/>
          <p:cNvSpPr txBox="1"/>
          <p:nvPr/>
        </p:nvSpPr>
        <p:spPr>
          <a:xfrm>
            <a:off x="5010912" y="1664208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8E8"/>
                </a:solidFill>
              </a:rPr>
              <a:t>Use the room</a:t>
            </a:r>
            <a:endParaRPr lang="en-US" sz="1400" dirty="0"/>
          </a:p>
        </p:txBody>
      </p:sp>
      <p:sp>
        <p:nvSpPr>
          <p:cNvPr id="15" name="price-2"/>
          <p:cNvSpPr/>
          <p:nvPr/>
        </p:nvSpPr>
        <p:spPr>
          <a:xfrm>
            <a:off x="8092440" y="914400"/>
            <a:ext cx="3611880" cy="1234440"/>
          </a:xfrm>
          <a:prstGeom prst="roundRect">
            <a:avLst>
              <a:gd name="adj" fmla="val 7407"/>
            </a:avLst>
          </a:prstGeom>
          <a:solidFill>
            <a:srgbClr val="1C1C1C"/>
          </a:solidFill>
          <a:ln/>
        </p:spPr>
      </p:sp>
      <p:sp>
        <p:nvSpPr>
          <p:cNvPr id="16" name="plan-icon-2-bg"/>
          <p:cNvSpPr/>
          <p:nvPr/>
        </p:nvSpPr>
        <p:spPr>
          <a:xfrm>
            <a:off x="8293608" y="1078992"/>
            <a:ext cx="402336" cy="402336"/>
          </a:xfrm>
          <a:prstGeom prst="ellipse">
            <a:avLst/>
          </a:prstGeom>
          <a:solidFill>
            <a:srgbClr val="7FBA00"/>
          </a:solidFill>
          <a:ln/>
        </p:spPr>
      </p:sp>
      <p:pic>
        <p:nvPicPr>
          <p:cNvPr id="17" name="plan-icon-2" descr="C:\Dev\abstracthon-web\docs\sponsor\icons\spar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6145" y="1171529"/>
            <a:ext cx="217261" cy="217261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805672" y="1024128"/>
            <a:ext cx="2697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7FBA00"/>
                </a:solidFill>
              </a:rPr>
              <a:t>OWNERSHIP</a:t>
            </a:r>
            <a:endParaRPr lang="en-US" sz="1200" dirty="0"/>
          </a:p>
        </p:txBody>
      </p:sp>
      <p:sp>
        <p:nvSpPr>
          <p:cNvPr id="19" name="Text 14"/>
          <p:cNvSpPr txBox="1"/>
          <p:nvPr/>
        </p:nvSpPr>
        <p:spPr>
          <a:xfrm>
            <a:off x="8805672" y="1243584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USD 800</a:t>
            </a:r>
            <a:endParaRPr lang="en-US" sz="2600" dirty="0"/>
          </a:p>
        </p:txBody>
      </p:sp>
      <p:sp>
        <p:nvSpPr>
          <p:cNvPr id="20" name="Text 15"/>
          <p:cNvSpPr txBox="1"/>
          <p:nvPr/>
        </p:nvSpPr>
        <p:spPr>
          <a:xfrm>
            <a:off x="8805672" y="1664208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8E8"/>
                </a:solidFill>
              </a:rPr>
              <a:t>Own a track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286000"/>
          <a:ext cx="11155680" cy="914400"/>
        </p:xfrm>
        <a:graphic>
          <a:graphicData uri="http://schemas.openxmlformats.org/drawingml/2006/table">
            <a:tbl>
              <a:tblPr/>
              <a:tblGrid>
                <a:gridCol w="4480560"/>
                <a:gridCol w="2221992"/>
                <a:gridCol w="2221992"/>
                <a:gridCol w="2231136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Benefit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2400" marR="127000" marT="63500" marB="63500" anchor="ctr">
                    <a:lnL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250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Visibility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B9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Activation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7FBA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Ownership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Logo on web and recap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2400" marR="127000" marT="63500" marB="63500" anchor="ctr">
                    <a:lnL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7FBA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7FBA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7FBA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Social mention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2400" marR="127000" marT="63500" marB="63500" anchor="ctr">
                    <a:lnL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7FBA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Group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7FBA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Group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7FBA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Dedicated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Swag in the kit, if you send it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2400" marR="127000" marT="63500" marB="63500" anchor="ctr">
                    <a:lnL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7FBA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7FBA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7FBA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Table on site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2400" marR="127000" marT="63500" marB="63500" anchor="ctr">
                    <a:lnL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A3A3A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7FBA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7FBA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Preferred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Workshop or named prize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2400" marR="127000" marT="63500" marB="63500" anchor="ctr">
                    <a:lnL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A3A3A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7FBA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7FBA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Jury seat for that prize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2400" marR="127000" marT="63500" marB="63500" anchor="ctr">
                    <a:lnL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A3A3A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7FBA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vote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7FBA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vote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Track presented by + first pick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2400" marR="127000" marT="63500" marB="63500" anchor="ctr">
                    <a:lnL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A3A3A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A3A3A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7FBA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Opt-in talent intro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2400" marR="127000" marT="63500" marB="63500" anchor="ctr">
                    <a:lnL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A3A3A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A3A3A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7FBA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Post-event report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2400" marR="127000" marT="63500" marB="63500" anchor="ctr">
                    <a:lnL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7FBA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Recap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7FBA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Detailed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7FBA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Custom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</a:tr>
            </a:tbl>
          </a:graphicData>
        </a:graphic>
      </p:graphicFrame>
      <p:sp>
        <p:nvSpPr>
          <p:cNvPr id="22" name="Text 16"/>
          <p:cNvSpPr txBox="1"/>
          <p:nvPr/>
        </p:nvSpPr>
        <p:spPr>
          <a:xfrm>
            <a:off x="502920" y="5989320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3A3A3"/>
                </a:solidFill>
              </a:rPr>
              <a:t>In-kind (food, rooms, merch): Visibility pack. Challenge and jury only if the value covers Activation or Ownership.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92240"/>
            <a:ext cx="59436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A3A3A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-close" descr="C:\Dev\abstracthon-web\public\img\abstracthon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92608"/>
            <a:ext cx="2834640" cy="1051560"/>
          </a:xfrm>
          <a:prstGeom prst="rect">
            <a:avLst/>
          </a:prstGeom>
        </p:spPr>
      </p:pic>
      <p:pic>
        <p:nvPicPr>
          <p:cNvPr id="3" name="mlsa-close" descr="C:\Dev\abstracthon-web\docs\sponsor\mlsa-imagotip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256032"/>
            <a:ext cx="1737360" cy="1444752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02920" y="1691640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If this fits, let’s talk this week</a:t>
            </a:r>
            <a:endParaRPr lang="en-US" sz="3600" dirty="0"/>
          </a:p>
        </p:txBody>
      </p:sp>
      <p:sp>
        <p:nvSpPr>
          <p:cNvPr id="5" name="Text 1"/>
          <p:cNvSpPr txBox="1"/>
          <p:nvPr/>
        </p:nvSpPr>
        <p:spPr>
          <a:xfrm>
            <a:off x="502920" y="230428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E8E8"/>
                </a:solidFill>
              </a:rPr>
              <a:t>Tell us the plan and which track you want. Ownership is reserved in order of confirmation.</a:t>
            </a:r>
            <a:endParaRPr lang="en-US" sz="1600" dirty="0"/>
          </a:p>
        </p:txBody>
      </p:sp>
      <p:sp>
        <p:nvSpPr>
          <p:cNvPr id="6" name="next-0"/>
          <p:cNvSpPr/>
          <p:nvPr/>
        </p:nvSpPr>
        <p:spPr>
          <a:xfrm>
            <a:off x="502920" y="2971800"/>
            <a:ext cx="3611880" cy="2148840"/>
          </a:xfrm>
          <a:prstGeom prst="roundRect">
            <a:avLst>
              <a:gd name="adj" fmla="val 4255"/>
            </a:avLst>
          </a:prstGeom>
          <a:solidFill>
            <a:srgbClr val="1C1C1C"/>
          </a:solidFill>
          <a:ln/>
        </p:spPr>
      </p:sp>
      <p:sp>
        <p:nvSpPr>
          <p:cNvPr id="7" name="next-icon-0-bg"/>
          <p:cNvSpPr/>
          <p:nvPr/>
        </p:nvSpPr>
        <p:spPr>
          <a:xfrm>
            <a:off x="722376" y="3127248"/>
            <a:ext cx="402336" cy="402336"/>
          </a:xfrm>
          <a:prstGeom prst="ellipse">
            <a:avLst/>
          </a:prstGeom>
          <a:solidFill>
            <a:srgbClr val="F25022"/>
          </a:solidFill>
          <a:ln/>
        </p:spPr>
      </p:sp>
      <p:pic>
        <p:nvPicPr>
          <p:cNvPr id="8" name="next-icon-0" descr="C:\Dev\abstracthon-web\docs\sponsor\icons\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913" y="3219785"/>
            <a:ext cx="217261" cy="217261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1234440" y="3182112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01</a:t>
            </a:r>
            <a:endParaRPr lang="en-US" sz="1600" dirty="0"/>
          </a:p>
        </p:txBody>
      </p:sp>
      <p:sp>
        <p:nvSpPr>
          <p:cNvPr id="10" name="Text 5"/>
          <p:cNvSpPr txBox="1"/>
          <p:nvPr/>
        </p:nvSpPr>
        <p:spPr>
          <a:xfrm>
            <a:off x="722376" y="3657600"/>
            <a:ext cx="3172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Pick a plan</a:t>
            </a:r>
            <a:endParaRPr lang="en-US" sz="1800" dirty="0"/>
          </a:p>
        </p:txBody>
      </p:sp>
      <p:sp>
        <p:nvSpPr>
          <p:cNvPr id="11" name="Text 6"/>
          <p:cNvSpPr txBox="1"/>
          <p:nvPr/>
        </p:nvSpPr>
        <p:spPr>
          <a:xfrm>
            <a:off x="722376" y="4059936"/>
            <a:ext cx="31729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8E8E8"/>
                </a:solidFill>
              </a:rPr>
              <a:t>Visibility, Activation or Ownership.</a:t>
            </a:r>
            <a:endParaRPr lang="en-US" sz="1400" dirty="0"/>
          </a:p>
        </p:txBody>
      </p:sp>
      <p:sp>
        <p:nvSpPr>
          <p:cNvPr id="12" name="next-1"/>
          <p:cNvSpPr/>
          <p:nvPr/>
        </p:nvSpPr>
        <p:spPr>
          <a:xfrm>
            <a:off x="4297680" y="2971800"/>
            <a:ext cx="3611880" cy="2148840"/>
          </a:xfrm>
          <a:prstGeom prst="roundRect">
            <a:avLst>
              <a:gd name="adj" fmla="val 4255"/>
            </a:avLst>
          </a:prstGeom>
          <a:solidFill>
            <a:srgbClr val="1C1C1C"/>
          </a:solidFill>
          <a:ln/>
        </p:spPr>
      </p:sp>
      <p:sp>
        <p:nvSpPr>
          <p:cNvPr id="13" name="next-icon-1-bg"/>
          <p:cNvSpPr/>
          <p:nvPr/>
        </p:nvSpPr>
        <p:spPr>
          <a:xfrm>
            <a:off x="4517136" y="3127248"/>
            <a:ext cx="402336" cy="402336"/>
          </a:xfrm>
          <a:prstGeom prst="ellipse">
            <a:avLst/>
          </a:prstGeom>
          <a:solidFill>
            <a:srgbClr val="7FBA00"/>
          </a:solidFill>
          <a:ln/>
        </p:spPr>
      </p:sp>
      <p:pic>
        <p:nvPicPr>
          <p:cNvPr id="14" name="next-icon-1" descr="C:\Dev\abstracthon-web\docs\sponsor\icons\fla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9673" y="3219785"/>
            <a:ext cx="217261" cy="217261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5029200" y="3182112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02</a:t>
            </a:r>
            <a:endParaRPr lang="en-US" sz="1600" dirty="0"/>
          </a:p>
        </p:txBody>
      </p:sp>
      <p:sp>
        <p:nvSpPr>
          <p:cNvPr id="16" name="Text 10"/>
          <p:cNvSpPr txBox="1"/>
          <p:nvPr/>
        </p:nvSpPr>
        <p:spPr>
          <a:xfrm>
            <a:off x="4517136" y="3657600"/>
            <a:ext cx="3172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Name a track</a:t>
            </a:r>
            <a:endParaRPr lang="en-US" sz="1800" dirty="0"/>
          </a:p>
        </p:txBody>
      </p:sp>
      <p:sp>
        <p:nvSpPr>
          <p:cNvPr id="17" name="Text 11"/>
          <p:cNvSpPr txBox="1"/>
          <p:nvPr/>
        </p:nvSpPr>
        <p:spPr>
          <a:xfrm>
            <a:off x="4517136" y="4059936"/>
            <a:ext cx="31729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8E8E8"/>
                </a:solidFill>
              </a:rPr>
              <a:t>Finance, Education, Communication or a mix.</a:t>
            </a:r>
            <a:endParaRPr lang="en-US" sz="1400" dirty="0"/>
          </a:p>
        </p:txBody>
      </p:sp>
      <p:sp>
        <p:nvSpPr>
          <p:cNvPr id="18" name="next-2"/>
          <p:cNvSpPr/>
          <p:nvPr/>
        </p:nvSpPr>
        <p:spPr>
          <a:xfrm>
            <a:off x="8092440" y="2971800"/>
            <a:ext cx="3611880" cy="2148840"/>
          </a:xfrm>
          <a:prstGeom prst="roundRect">
            <a:avLst>
              <a:gd name="adj" fmla="val 4255"/>
            </a:avLst>
          </a:prstGeom>
          <a:solidFill>
            <a:srgbClr val="1C1C1C"/>
          </a:solidFill>
          <a:ln/>
        </p:spPr>
      </p:sp>
      <p:sp>
        <p:nvSpPr>
          <p:cNvPr id="19" name="next-icon-2-bg"/>
          <p:cNvSpPr/>
          <p:nvPr/>
        </p:nvSpPr>
        <p:spPr>
          <a:xfrm>
            <a:off x="8311896" y="3127248"/>
            <a:ext cx="402336" cy="402336"/>
          </a:xfrm>
          <a:prstGeom prst="ellipse">
            <a:avLst/>
          </a:prstGeom>
          <a:solidFill>
            <a:srgbClr val="FFB900"/>
          </a:solidFill>
          <a:ln/>
        </p:spPr>
      </p:sp>
      <p:pic>
        <p:nvPicPr>
          <p:cNvPr id="20" name="next-icon-2" descr="C:\Dev\abstracthon-web\docs\sponsor\icons\mail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04433" y="3219785"/>
            <a:ext cx="217261" cy="217261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8823960" y="3182112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03</a:t>
            </a:r>
            <a:endParaRPr lang="en-US" sz="1600" dirty="0"/>
          </a:p>
        </p:txBody>
      </p:sp>
      <p:sp>
        <p:nvSpPr>
          <p:cNvPr id="22" name="Text 15"/>
          <p:cNvSpPr txBox="1"/>
          <p:nvPr/>
        </p:nvSpPr>
        <p:spPr>
          <a:xfrm>
            <a:off x="8311896" y="3657600"/>
            <a:ext cx="3172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Send logo and contact</a:t>
            </a:r>
            <a:endParaRPr lang="en-US" sz="1800" dirty="0"/>
          </a:p>
        </p:txBody>
      </p:sp>
      <p:sp>
        <p:nvSpPr>
          <p:cNvPr id="23" name="Text 16"/>
          <p:cNvSpPr txBox="1"/>
          <p:nvPr/>
        </p:nvSpPr>
        <p:spPr>
          <a:xfrm>
            <a:off x="8311896" y="4059936"/>
            <a:ext cx="31729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8E8E8"/>
                </a:solidFill>
              </a:rPr>
              <a:t>We reply within 48 hours with the agreement.</a:t>
            </a:r>
            <a:endParaRPr lang="en-US" sz="1400" dirty="0"/>
          </a:p>
        </p:txBody>
      </p:sp>
      <p:sp>
        <p:nvSpPr>
          <p:cNvPr id="24" name="web-icon-bg"/>
          <p:cNvSpPr/>
          <p:nvPr/>
        </p:nvSpPr>
        <p:spPr>
          <a:xfrm>
            <a:off x="502920" y="5870448"/>
            <a:ext cx="457200" cy="457200"/>
          </a:xfrm>
          <a:prstGeom prst="ellipse">
            <a:avLst/>
          </a:prstGeom>
          <a:solidFill>
            <a:srgbClr val="7FBA00"/>
          </a:solidFill>
          <a:ln/>
        </p:spPr>
      </p:sp>
      <p:pic>
        <p:nvPicPr>
          <p:cNvPr id="25" name="web-icon" descr="C:\Dev\abstracthon-web\docs\sponsor\icons\glob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8076" y="5975604"/>
            <a:ext cx="246888" cy="246888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1078992" y="5943600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abstracthon-demoweb.vercel.app</a:t>
            </a:r>
            <a:endParaRPr lang="en-US" sz="1500" dirty="0"/>
          </a:p>
        </p:txBody>
      </p:sp>
      <p:sp>
        <p:nvSpPr>
          <p:cNvPr id="27" name="ig-icon-bg"/>
          <p:cNvSpPr/>
          <p:nvPr/>
        </p:nvSpPr>
        <p:spPr>
          <a:xfrm>
            <a:off x="5532120" y="5870448"/>
            <a:ext cx="457200" cy="457200"/>
          </a:xfrm>
          <a:prstGeom prst="ellipse">
            <a:avLst/>
          </a:prstGeom>
          <a:solidFill>
            <a:srgbClr val="F25022"/>
          </a:solidFill>
          <a:ln/>
        </p:spPr>
      </p:sp>
      <p:pic>
        <p:nvPicPr>
          <p:cNvPr id="28" name="ig-icon" descr="C:\Dev\abstracthon-web\docs\sponsor\icons\instagram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37276" y="5975604"/>
            <a:ext cx="246888" cy="246888"/>
          </a:xfrm>
          <a:prstGeom prst="rect">
            <a:avLst/>
          </a:prstGeom>
        </p:spPr>
      </p:pic>
      <p:sp>
        <p:nvSpPr>
          <p:cNvPr id="29" name="Text 20"/>
          <p:cNvSpPr txBox="1"/>
          <p:nvPr/>
        </p:nvSpPr>
        <p:spPr>
          <a:xfrm>
            <a:off x="6108192" y="5943600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@microsoft_university</a:t>
            </a:r>
            <a:endParaRPr lang="en-US" sz="1500" dirty="0"/>
          </a:p>
        </p:txBody>
      </p:sp>
      <p:sp>
        <p:nvSpPr>
          <p:cNvPr id="30" name="Text 21"/>
          <p:cNvSpPr txBox="1"/>
          <p:nvPr/>
        </p:nvSpPr>
        <p:spPr>
          <a:xfrm>
            <a:off x="9281160" y="594360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A3A3A3"/>
                </a:solidFill>
              </a:rPr>
              <a:t>Abstracthon team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bstracthon 2026">
  <a:themeElements>
    <a:clrScheme name="Abstracthon 2026">
      <a:dk1>
        <a:srgbClr val="111111"/>
      </a:dk1>
      <a:lt1>
        <a:srgbClr val="FFFFFF"/>
      </a:lt1>
      <a:dk2>
        <a:srgbClr val="1C1C1C"/>
      </a:dk2>
      <a:lt2>
        <a:srgbClr val="E8E8E8"/>
      </a:lt2>
      <a:accent1>
        <a:srgbClr val="FFB900"/>
      </a:accent1>
      <a:accent2>
        <a:srgbClr val="F25022"/>
      </a:accent2>
      <a:accent3>
        <a:srgbClr val="7FBA00"/>
      </a:accent3>
      <a:accent4>
        <a:srgbClr val="00A4EF"/>
      </a:accent4>
      <a:accent5>
        <a:srgbClr val="A3A3A3"/>
      </a:accent5>
      <a:accent6>
        <a:srgbClr val="1C1C1C"/>
      </a:accent6>
      <a:hlink>
        <a:srgbClr val="00A4EF"/>
      </a:hlink>
      <a:folHlink>
        <a:srgbClr val="FFB900"/>
      </a:folHlink>
    </a:clrScheme>
    <a:fontScheme name="Abstracthon 2026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Abstracthon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Abstracthon 2026 Partner call</dc:title>
  <dc:subject>Hackathon sponsorship Bolivia 2026</dc:subject>
  <dc:creator>Abstracthon</dc:creator>
  <cp:lastModifiedBy>Abstracthon</cp:lastModifiedBy>
  <cp:revision>1</cp:revision>
  <dcterms:created xsi:type="dcterms:W3CDTF">2026-10-26T04:26:04Z</dcterms:created>
  <dcterms:modified xsi:type="dcterms:W3CDTF">2026-10-26T04:26:04Z</dcterms:modified>
</cp:coreProperties>
</file>